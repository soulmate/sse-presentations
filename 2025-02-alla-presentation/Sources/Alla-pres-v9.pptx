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70" r:id="rId3"/>
    <p:sldId id="271" r:id="rId4"/>
    <p:sldId id="257" r:id="rId5"/>
    <p:sldId id="258" r:id="rId6"/>
    <p:sldId id="259" r:id="rId7"/>
    <p:sldId id="260" r:id="rId8"/>
    <p:sldId id="261" r:id="rId9"/>
    <p:sldId id="267" r:id="rId10"/>
    <p:sldId id="264" r:id="rId11"/>
  </p:sldIdLst>
  <p:sldSz cx="14630400" cy="8229600"/>
  <p:notesSz cx="8229600" cy="14630400"/>
  <p:embeddedFontLst>
    <p:embeddedFont>
      <p:font typeface="MuseoModerno Medium" pitchFamily="2" charset="0"/>
      <p:regular r:id="rId13"/>
      <p:italic r:id="rId14"/>
    </p:embeddedFont>
    <p:embeddedFont>
      <p:font typeface="Source Sans Pro" panose="020B0503030403020204" pitchFamily="34" charset="0"/>
      <p:regular r:id="rId15"/>
      <p:bold r:id="rId16"/>
      <p:italic r:id="rId17"/>
      <p:boldItalic r:id="rId18"/>
    </p:embeddedFont>
  </p:embeddedFontLst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4150"/>
    <a:srgbClr val="FFFCF5"/>
    <a:srgbClr val="5195A2"/>
    <a:srgbClr val="5296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167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2D77C3-3646-1A16-0986-7C7F53F09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36C97032-ECFE-D6F4-8A87-2E7DAB834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83EDA509-BE13-9CB2-8EE3-4C217F086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AA7D7C3B-D144-E05B-51A0-63A981151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9C02B6A-6D36-7DD9-B301-9B7D41F0F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FED7A9C9-1293-9A7E-DB7D-9D6752BE4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185B558E-AFE3-E1A6-1773-6B693457E2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D719E55D-5012-4764-3E1D-E56D7EB26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CE9BB88D-D55E-2432-FC98-836CCCA1B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3CA1DF12-27ED-6207-5FB8-DCD50B6B2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585FB2-B57F-A73A-2397-C26192EF5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E2FD15-F78F-6840-009E-5EFF023869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4" t="18488" b="26045"/>
          <a:stretch/>
        </p:blipFill>
        <p:spPr>
          <a:xfrm>
            <a:off x="0" y="-1"/>
            <a:ext cx="14630400" cy="82296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CC0D32-98E2-D215-0C9F-96C22C75A60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195A2">
              <a:alpha val="6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98FC24-ECCE-5637-2D13-5AD4FEC54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0" y="0"/>
            <a:ext cx="82296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380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FB8C19-A258-D8FB-2A53-AC11937712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8" r="8113"/>
          <a:stretch/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63430C-AF00-EB0A-0B26-0BAE86690395}"/>
              </a:ext>
            </a:extLst>
          </p:cNvPr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rgbClr val="5195A2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F8B0172F-B19C-38B5-C5C0-A98519A135AB}"/>
              </a:ext>
            </a:extLst>
          </p:cNvPr>
          <p:cNvSpPr/>
          <p:nvPr/>
        </p:nvSpPr>
        <p:spPr>
          <a:xfrm>
            <a:off x="8137505" y="2717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Who We Are</a:t>
            </a:r>
            <a:endParaRPr lang="en-US" sz="44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C38E4E-CA00-02CC-435B-5C4264AC9479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1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31" name="Footer Placeholder 1">
            <a:extLst>
              <a:ext uri="{FF2B5EF4-FFF2-40B4-BE49-F238E27FC236}">
                <a16:creationId xmlns:a16="http://schemas.microsoft.com/office/drawing/2014/main" id="{CEC342C0-DC15-40CD-70DF-D6ACCEB98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199" y="7791450"/>
            <a:ext cx="7315201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58466B7E-8251-A288-0FB7-90801E565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190" y="1281926"/>
            <a:ext cx="425291" cy="425291"/>
          </a:xfrm>
          <a:prstGeom prst="rect">
            <a:avLst/>
          </a:prstGeom>
        </p:spPr>
      </p:pic>
      <p:sp>
        <p:nvSpPr>
          <p:cNvPr id="33" name="Text 1">
            <a:extLst>
              <a:ext uri="{FF2B5EF4-FFF2-40B4-BE49-F238E27FC236}">
                <a16:creationId xmlns:a16="http://schemas.microsoft.com/office/drawing/2014/main" id="{219FAA39-48BF-3B7E-A73D-C88AE512EC2F}"/>
              </a:ext>
            </a:extLst>
          </p:cNvPr>
          <p:cNvSpPr/>
          <p:nvPr/>
        </p:nvSpPr>
        <p:spPr>
          <a:xfrm>
            <a:off x="8526502" y="135312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Founded in 2020</a:t>
            </a:r>
            <a:endParaRPr lang="en-US" sz="165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D3ADCBBC-3837-CDE6-F4E1-1D73D8796FE5}"/>
              </a:ext>
            </a:extLst>
          </p:cNvPr>
          <p:cNvSpPr/>
          <p:nvPr/>
        </p:nvSpPr>
        <p:spPr>
          <a:xfrm>
            <a:off x="8526502" y="1720909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Based on over a decade of experience in time-critical logistics</a:t>
            </a:r>
            <a:endParaRPr lang="en-US" sz="1300" dirty="0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23FF97BF-4DD3-CB97-3CBD-1B5D9DF5D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190" y="2363013"/>
            <a:ext cx="425291" cy="425291"/>
          </a:xfrm>
          <a:prstGeom prst="rect">
            <a:avLst/>
          </a:prstGeom>
        </p:spPr>
      </p:pic>
      <p:sp>
        <p:nvSpPr>
          <p:cNvPr id="36" name="Text 3">
            <a:extLst>
              <a:ext uri="{FF2B5EF4-FFF2-40B4-BE49-F238E27FC236}">
                <a16:creationId xmlns:a16="http://schemas.microsoft.com/office/drawing/2014/main" id="{EEFF44A3-E1BE-99CF-155C-2683B9288FAE}"/>
              </a:ext>
            </a:extLst>
          </p:cNvPr>
          <p:cNvSpPr/>
          <p:nvPr/>
        </p:nvSpPr>
        <p:spPr>
          <a:xfrm>
            <a:off x="8526502" y="243421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Core team</a:t>
            </a:r>
            <a:endParaRPr lang="en-US" sz="165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27B872B5-93B3-68C9-5DF9-4080A5A12C87}"/>
              </a:ext>
            </a:extLst>
          </p:cNvPr>
          <p:cNvSpPr/>
          <p:nvPr/>
        </p:nvSpPr>
        <p:spPr>
          <a:xfrm>
            <a:off x="8526502" y="2801997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With 10+ years working together</a:t>
            </a:r>
            <a:endParaRPr lang="en-US" sz="1300" dirty="0"/>
          </a:p>
        </p:txBody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C8BC5799-0F29-6F23-48BC-C3D00A350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190" y="3444101"/>
            <a:ext cx="425291" cy="425291"/>
          </a:xfrm>
          <a:prstGeom prst="rect">
            <a:avLst/>
          </a:prstGeom>
        </p:spPr>
      </p:pic>
      <p:sp>
        <p:nvSpPr>
          <p:cNvPr id="39" name="Text 5">
            <a:extLst>
              <a:ext uri="{FF2B5EF4-FFF2-40B4-BE49-F238E27FC236}">
                <a16:creationId xmlns:a16="http://schemas.microsoft.com/office/drawing/2014/main" id="{CDA036FE-0FE4-F33C-EDA5-E46806BC231F}"/>
              </a:ext>
            </a:extLst>
          </p:cNvPr>
          <p:cNvSpPr/>
          <p:nvPr/>
        </p:nvSpPr>
        <p:spPr>
          <a:xfrm>
            <a:off x="8526502" y="3515300"/>
            <a:ext cx="326957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Specialized in urgent shipments</a:t>
            </a:r>
            <a:endParaRPr lang="en-US" sz="165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E139AE50-E248-51F9-1B16-0AAE5A550E31}"/>
              </a:ext>
            </a:extLst>
          </p:cNvPr>
          <p:cNvSpPr/>
          <p:nvPr/>
        </p:nvSpPr>
        <p:spPr>
          <a:xfrm>
            <a:off x="8526502" y="3883084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OBC, NFO, and express road solutions</a:t>
            </a:r>
            <a:endParaRPr lang="en-US" sz="1300" dirty="0"/>
          </a:p>
        </p:txBody>
      </p:sp>
      <p:pic>
        <p:nvPicPr>
          <p:cNvPr id="41" name="Image 4" descr="preencoded.png">
            <a:extLst>
              <a:ext uri="{FF2B5EF4-FFF2-40B4-BE49-F238E27FC236}">
                <a16:creationId xmlns:a16="http://schemas.microsoft.com/office/drawing/2014/main" id="{6B995775-6D30-B9E4-AA9F-F6B9D132A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190" y="4525188"/>
            <a:ext cx="425291" cy="425291"/>
          </a:xfrm>
          <a:prstGeom prst="rect">
            <a:avLst/>
          </a:prstGeom>
        </p:spPr>
      </p:pic>
      <p:sp>
        <p:nvSpPr>
          <p:cNvPr id="42" name="Text 7">
            <a:extLst>
              <a:ext uri="{FF2B5EF4-FFF2-40B4-BE49-F238E27FC236}">
                <a16:creationId xmlns:a16="http://schemas.microsoft.com/office/drawing/2014/main" id="{D659AE1C-51D7-53DD-8C53-A6837E554FFC}"/>
              </a:ext>
            </a:extLst>
          </p:cNvPr>
          <p:cNvSpPr/>
          <p:nvPr/>
        </p:nvSpPr>
        <p:spPr>
          <a:xfrm>
            <a:off x="8526502" y="459638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Flexible in approach</a:t>
            </a:r>
            <a:endParaRPr lang="en-US" sz="165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DC881658-A295-9733-8519-D83B01FE906B}"/>
              </a:ext>
            </a:extLst>
          </p:cNvPr>
          <p:cNvSpPr/>
          <p:nvPr/>
        </p:nvSpPr>
        <p:spPr>
          <a:xfrm>
            <a:off x="8526502" y="4964172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 adapt to what each shipment really needs</a:t>
            </a:r>
            <a:endParaRPr lang="en-US" sz="1300" dirty="0"/>
          </a:p>
        </p:txBody>
      </p:sp>
      <p:pic>
        <p:nvPicPr>
          <p:cNvPr id="44" name="Image 5" descr="preencoded.png">
            <a:extLst>
              <a:ext uri="{FF2B5EF4-FFF2-40B4-BE49-F238E27FC236}">
                <a16:creationId xmlns:a16="http://schemas.microsoft.com/office/drawing/2014/main" id="{517D101C-F098-9EDE-C808-3B9BCD5797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1190" y="5606276"/>
            <a:ext cx="425291" cy="425291"/>
          </a:xfrm>
          <a:prstGeom prst="rect">
            <a:avLst/>
          </a:prstGeom>
        </p:spPr>
      </p:pic>
      <p:sp>
        <p:nvSpPr>
          <p:cNvPr id="45" name="Text 9">
            <a:extLst>
              <a:ext uri="{FF2B5EF4-FFF2-40B4-BE49-F238E27FC236}">
                <a16:creationId xmlns:a16="http://schemas.microsoft.com/office/drawing/2014/main" id="{0B9F2453-E85E-6AD5-C958-724D95074D5B}"/>
              </a:ext>
            </a:extLst>
          </p:cNvPr>
          <p:cNvSpPr/>
          <p:nvPr/>
        </p:nvSpPr>
        <p:spPr>
          <a:xfrm>
            <a:off x="8526502" y="5677475"/>
            <a:ext cx="410610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1,000+ couriers and partners worldwide</a:t>
            </a:r>
            <a:endParaRPr lang="en-US" sz="165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FE8B68C5-19E5-7EC9-E9F9-1145C5012165}"/>
              </a:ext>
            </a:extLst>
          </p:cNvPr>
          <p:cNvSpPr/>
          <p:nvPr/>
        </p:nvSpPr>
        <p:spPr>
          <a:xfrm>
            <a:off x="8526502" y="6045259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But we only work with a trusted, vetted circle</a:t>
            </a:r>
            <a:endParaRPr lang="en-US" sz="1300" dirty="0"/>
          </a:p>
        </p:txBody>
      </p:sp>
      <p:pic>
        <p:nvPicPr>
          <p:cNvPr id="47" name="Image 6" descr="preencoded.png">
            <a:extLst>
              <a:ext uri="{FF2B5EF4-FFF2-40B4-BE49-F238E27FC236}">
                <a16:creationId xmlns:a16="http://schemas.microsoft.com/office/drawing/2014/main" id="{C6ECA395-2941-05D7-0B77-27412A417F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1190" y="6687363"/>
            <a:ext cx="425291" cy="425291"/>
          </a:xfrm>
          <a:prstGeom prst="rect">
            <a:avLst/>
          </a:prstGeom>
        </p:spPr>
      </p:pic>
      <p:sp>
        <p:nvSpPr>
          <p:cNvPr id="48" name="Text 11">
            <a:extLst>
              <a:ext uri="{FF2B5EF4-FFF2-40B4-BE49-F238E27FC236}">
                <a16:creationId xmlns:a16="http://schemas.microsoft.com/office/drawing/2014/main" id="{E944193A-7CD0-CE4D-5B6B-5880B067005F}"/>
              </a:ext>
            </a:extLst>
          </p:cNvPr>
          <p:cNvSpPr/>
          <p:nvPr/>
        </p:nvSpPr>
        <p:spPr>
          <a:xfrm>
            <a:off x="8526502" y="6758563"/>
            <a:ext cx="221718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Quality over quantity</a:t>
            </a:r>
            <a:endParaRPr lang="en-US" sz="165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CBA15D0A-F5C9-C686-EBE2-94FEDD31B7F2}"/>
              </a:ext>
            </a:extLst>
          </p:cNvPr>
          <p:cNvSpPr/>
          <p:nvPr/>
        </p:nvSpPr>
        <p:spPr>
          <a:xfrm>
            <a:off x="8526502" y="7126347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 focus on precision, reliability, and long-term relationships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8646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9A2A0-98F5-0ABA-2372-68EAE49F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E9CDAF5-CFE7-8B18-F415-7302FD1B02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5" r="8460" b="2001"/>
          <a:stretch/>
        </p:blipFill>
        <p:spPr bwMode="auto">
          <a:xfrm>
            <a:off x="7315198" y="-9003"/>
            <a:ext cx="7315201" cy="8238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0B668D09-4560-FBFA-A8E9-DDEA5FE8958F}"/>
              </a:ext>
            </a:extLst>
          </p:cNvPr>
          <p:cNvSpPr/>
          <p:nvPr/>
        </p:nvSpPr>
        <p:spPr>
          <a:xfrm>
            <a:off x="7315198" y="0"/>
            <a:ext cx="7315200" cy="8229600"/>
          </a:xfrm>
          <a:prstGeom prst="rect">
            <a:avLst/>
          </a:prstGeom>
          <a:solidFill>
            <a:srgbClr val="5195A2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C176064-B2E6-61CC-6B4B-D5D689F432E3}"/>
              </a:ext>
            </a:extLst>
          </p:cNvPr>
          <p:cNvSpPr/>
          <p:nvPr/>
        </p:nvSpPr>
        <p:spPr>
          <a:xfrm>
            <a:off x="640526" y="9195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How We Work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730065-D7D3-839A-282A-9A976DB33830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2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31" name="Footer Placeholder 1">
            <a:extLst>
              <a:ext uri="{FF2B5EF4-FFF2-40B4-BE49-F238E27FC236}">
                <a16:creationId xmlns:a16="http://schemas.microsoft.com/office/drawing/2014/main" id="{48E005DD-9599-7D45-2526-56AC30F95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7791450"/>
            <a:ext cx="7315201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  <p:pic>
        <p:nvPicPr>
          <p:cNvPr id="62" name="Image 1">
            <a:extLst>
              <a:ext uri="{FF2B5EF4-FFF2-40B4-BE49-F238E27FC236}">
                <a16:creationId xmlns:a16="http://schemas.microsoft.com/office/drawing/2014/main" id="{2D882223-7A31-5AE6-7305-3DABB78F0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45" y="2016443"/>
            <a:ext cx="340162" cy="340162"/>
          </a:xfrm>
          <a:prstGeom prst="rect">
            <a:avLst/>
          </a:prstGeom>
        </p:spPr>
      </p:pic>
      <p:sp>
        <p:nvSpPr>
          <p:cNvPr id="63" name="Text 1">
            <a:extLst>
              <a:ext uri="{FF2B5EF4-FFF2-40B4-BE49-F238E27FC236}">
                <a16:creationId xmlns:a16="http://schemas.microsoft.com/office/drawing/2014/main" id="{4A06ED98-0E26-C8B2-5AF9-F0EF4B33D8F4}"/>
              </a:ext>
            </a:extLst>
          </p:cNvPr>
          <p:cNvSpPr/>
          <p:nvPr/>
        </p:nvSpPr>
        <p:spPr>
          <a:xfrm>
            <a:off x="1037420" y="2022158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Operating 24/7 with global coverage and fast response</a:t>
            </a:r>
            <a:endParaRPr lang="en-US" sz="1750" dirty="0"/>
          </a:p>
        </p:txBody>
      </p:sp>
      <p:pic>
        <p:nvPicPr>
          <p:cNvPr id="2048" name="Image 2">
            <a:extLst>
              <a:ext uri="{FF2B5EF4-FFF2-40B4-BE49-F238E27FC236}">
                <a16:creationId xmlns:a16="http://schemas.microsoft.com/office/drawing/2014/main" id="{F4663F84-14F1-5A22-811A-B723F0C91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45" y="2878336"/>
            <a:ext cx="340162" cy="340162"/>
          </a:xfrm>
          <a:prstGeom prst="rect">
            <a:avLst/>
          </a:prstGeom>
        </p:spPr>
      </p:pic>
      <p:sp>
        <p:nvSpPr>
          <p:cNvPr id="2049" name="Text 2">
            <a:extLst>
              <a:ext uri="{FF2B5EF4-FFF2-40B4-BE49-F238E27FC236}">
                <a16:creationId xmlns:a16="http://schemas.microsoft.com/office/drawing/2014/main" id="{4D0D9FC6-B199-DAC8-7E10-EE8D337A1E10}"/>
              </a:ext>
            </a:extLst>
          </p:cNvPr>
          <p:cNvSpPr/>
          <p:nvPr/>
        </p:nvSpPr>
        <p:spPr>
          <a:xfrm>
            <a:off x="1037420" y="2884051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Standard OBC quotes within 15 min, NFO within 30 min</a:t>
            </a:r>
            <a:endParaRPr lang="en-US" sz="1750" dirty="0"/>
          </a:p>
        </p:txBody>
      </p:sp>
      <p:pic>
        <p:nvPicPr>
          <p:cNvPr id="2051" name="Image 3">
            <a:extLst>
              <a:ext uri="{FF2B5EF4-FFF2-40B4-BE49-F238E27FC236}">
                <a16:creationId xmlns:a16="http://schemas.microsoft.com/office/drawing/2014/main" id="{D2D958D9-361E-CC41-0747-0EBF4FD3D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45" y="3740230"/>
            <a:ext cx="340162" cy="340162"/>
          </a:xfrm>
          <a:prstGeom prst="rect">
            <a:avLst/>
          </a:prstGeom>
        </p:spPr>
      </p:pic>
      <p:sp>
        <p:nvSpPr>
          <p:cNvPr id="2052" name="Text 3">
            <a:extLst>
              <a:ext uri="{FF2B5EF4-FFF2-40B4-BE49-F238E27FC236}">
                <a16:creationId xmlns:a16="http://schemas.microsoft.com/office/drawing/2014/main" id="{7BD9FD33-88B5-560A-1714-4E629D66C665}"/>
              </a:ext>
            </a:extLst>
          </p:cNvPr>
          <p:cNvSpPr/>
          <p:nvPr/>
        </p:nvSpPr>
        <p:spPr>
          <a:xfrm>
            <a:off x="1037420" y="3745945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Carefully selected global courier network</a:t>
            </a:r>
            <a:endParaRPr lang="en-US" sz="1750" dirty="0"/>
          </a:p>
        </p:txBody>
      </p:sp>
      <p:pic>
        <p:nvPicPr>
          <p:cNvPr id="2053" name="Image 4">
            <a:extLst>
              <a:ext uri="{FF2B5EF4-FFF2-40B4-BE49-F238E27FC236}">
                <a16:creationId xmlns:a16="http://schemas.microsoft.com/office/drawing/2014/main" id="{CC02A55A-7559-1F61-D052-1118F9F3A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45" y="4602123"/>
            <a:ext cx="340162" cy="340162"/>
          </a:xfrm>
          <a:prstGeom prst="rect">
            <a:avLst/>
          </a:prstGeom>
        </p:spPr>
      </p:pic>
      <p:sp>
        <p:nvSpPr>
          <p:cNvPr id="2054" name="Text 4">
            <a:extLst>
              <a:ext uri="{FF2B5EF4-FFF2-40B4-BE49-F238E27FC236}">
                <a16:creationId xmlns:a16="http://schemas.microsoft.com/office/drawing/2014/main" id="{D8AAE695-925D-A1D7-A784-5037D02D3C51}"/>
              </a:ext>
            </a:extLst>
          </p:cNvPr>
          <p:cNvSpPr/>
          <p:nvPr/>
        </p:nvSpPr>
        <p:spPr>
          <a:xfrm>
            <a:off x="1037420" y="4607838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Real-time tracking and full transparency</a:t>
            </a:r>
            <a:endParaRPr lang="en-US" sz="1750" dirty="0"/>
          </a:p>
        </p:txBody>
      </p:sp>
      <p:pic>
        <p:nvPicPr>
          <p:cNvPr id="2055" name="Image 5">
            <a:extLst>
              <a:ext uri="{FF2B5EF4-FFF2-40B4-BE49-F238E27FC236}">
                <a16:creationId xmlns:a16="http://schemas.microsoft.com/office/drawing/2014/main" id="{DADF25FA-D44A-8A07-DBCE-9F316E3363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445" y="5464017"/>
            <a:ext cx="340162" cy="340162"/>
          </a:xfrm>
          <a:prstGeom prst="rect">
            <a:avLst/>
          </a:prstGeom>
        </p:spPr>
      </p:pic>
      <p:sp>
        <p:nvSpPr>
          <p:cNvPr id="2056" name="Text 5">
            <a:extLst>
              <a:ext uri="{FF2B5EF4-FFF2-40B4-BE49-F238E27FC236}">
                <a16:creationId xmlns:a16="http://schemas.microsoft.com/office/drawing/2014/main" id="{D3527828-34C8-B2E9-0E85-A9A3B9CE2B8C}"/>
              </a:ext>
            </a:extLst>
          </p:cNvPr>
          <p:cNvSpPr/>
          <p:nvPr/>
        </p:nvSpPr>
        <p:spPr>
          <a:xfrm>
            <a:off x="1037420" y="5469732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Constant communication, from quote to POD</a:t>
            </a:r>
            <a:endParaRPr lang="en-US" sz="1750" dirty="0"/>
          </a:p>
        </p:txBody>
      </p:sp>
      <p:pic>
        <p:nvPicPr>
          <p:cNvPr id="2057" name="Image 6">
            <a:extLst>
              <a:ext uri="{FF2B5EF4-FFF2-40B4-BE49-F238E27FC236}">
                <a16:creationId xmlns:a16="http://schemas.microsoft.com/office/drawing/2014/main" id="{0E406E1F-5D56-5C50-A5DE-F1906BD51B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445" y="6325910"/>
            <a:ext cx="340162" cy="340162"/>
          </a:xfrm>
          <a:prstGeom prst="rect">
            <a:avLst/>
          </a:prstGeom>
        </p:spPr>
      </p:pic>
      <p:sp>
        <p:nvSpPr>
          <p:cNvPr id="2058" name="Text 6">
            <a:extLst>
              <a:ext uri="{FF2B5EF4-FFF2-40B4-BE49-F238E27FC236}">
                <a16:creationId xmlns:a16="http://schemas.microsoft.com/office/drawing/2014/main" id="{CEB43BDD-AFF2-87DE-C022-F21FB927F7A4}"/>
              </a:ext>
            </a:extLst>
          </p:cNvPr>
          <p:cNvSpPr/>
          <p:nvPr/>
        </p:nvSpPr>
        <p:spPr>
          <a:xfrm>
            <a:off x="1037420" y="6331625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Tailored solutions, not templates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48024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45012"/>
            <a:ext cx="13042821" cy="1599843"/>
          </a:xfrm>
          <a:prstGeom prst="roundRect">
            <a:avLst>
              <a:gd name="adj" fmla="val 180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986552" y="1237774"/>
            <a:ext cx="6040041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750"/>
              </a:lnSpc>
              <a:buNone/>
            </a:pPr>
            <a:r>
              <a:rPr lang="en-US" sz="3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What is OBC (On Board Courier)?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6552" y="1835348"/>
            <a:ext cx="126572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OBC stands for On Board Courier, a premium service where a dedicated courier personally accompanies your urgent shipment from start to finish, ensuring fast and secure delivery without ever parting with the package.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3790" y="2837617"/>
            <a:ext cx="13042821" cy="1599843"/>
          </a:xfrm>
          <a:prstGeom prst="roundRect">
            <a:avLst>
              <a:gd name="adj" fmla="val 180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86552" y="3030379"/>
            <a:ext cx="4035743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750"/>
              </a:lnSpc>
              <a:buNone/>
            </a:pPr>
            <a:r>
              <a:rPr lang="en-US" sz="3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How does OBC work?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86552" y="3627953"/>
            <a:ext cx="126572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With On Board Courier (OBC), a dedicated courier personally collects your urgent shipment, carries it onboard, and hand-delivers it directly to the destination. This process ensures maximum security, speed, and real-time tracking for your critical deliveries.</a:t>
            </a:r>
            <a:endParaRPr lang="en-US" sz="1500" dirty="0">
              <a:solidFill>
                <a:srgbClr val="2B4150"/>
              </a:solidFill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182" y="4654272"/>
            <a:ext cx="481965" cy="4819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77133" y="532899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Fast delivery</a:t>
            </a:r>
            <a:endParaRPr lang="en-US" sz="1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7134" y="4654272"/>
            <a:ext cx="481965" cy="4819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43204" y="532899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Secure handling</a:t>
            </a:r>
            <a:endParaRPr lang="en-US" sz="1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1182" y="6208633"/>
            <a:ext cx="481965" cy="4819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77133" y="688336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Real-time tracking</a:t>
            </a:r>
            <a:endParaRPr lang="en-US" sz="1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7134" y="6208633"/>
            <a:ext cx="481965" cy="4819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70432" y="6883360"/>
            <a:ext cx="295548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Maximum peace of mind</a:t>
            </a:r>
            <a:endParaRPr lang="en-US" sz="18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131C9F5-328A-B552-74B4-2C372B3558D5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3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72D8E8B3-855B-A8FF-8B94-D7383CAFB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5149"/>
            <a:ext cx="85499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OBC Mission Timeline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8787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991916" y="2678728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650122" y="2336366"/>
            <a:ext cx="714188" cy="684844"/>
          </a:xfrm>
          <a:prstGeom prst="roundRect">
            <a:avLst>
              <a:gd name="adj" fmla="val 85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020604" y="3699510"/>
            <a:ext cx="197346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Request Confirmed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4544258"/>
            <a:ext cx="197346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Shipment details are confirmed and approved.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645819" y="2678728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4304025" y="2336366"/>
            <a:ext cx="714188" cy="684844"/>
          </a:xfrm>
          <a:prstGeom prst="roundRect">
            <a:avLst>
              <a:gd name="adj" fmla="val 85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3674507" y="3699510"/>
            <a:ext cx="197346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Courier </a:t>
            </a:r>
            <a:b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</a:b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Pick-Up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74507" y="4544258"/>
            <a:ext cx="197346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courier collects the package and ensures proper handling.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299722" y="2678728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6957928" y="2336366"/>
            <a:ext cx="714188" cy="684844"/>
          </a:xfrm>
          <a:prstGeom prst="roundRect">
            <a:avLst>
              <a:gd name="adj" fmla="val 85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6328410" y="3699510"/>
            <a:ext cx="197346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Customs Clearance &amp; Departure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28410" y="4898588"/>
            <a:ext cx="197346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Export clearance is completed, and the courier boards the flight with the shipment.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953625" y="2678728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9611831" y="2336366"/>
            <a:ext cx="714188" cy="684844"/>
          </a:xfrm>
          <a:prstGeom prst="roundRect">
            <a:avLst>
              <a:gd name="adj" fmla="val 85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8982313" y="3699510"/>
            <a:ext cx="197346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Arrival &amp; Import Clearance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82313" y="4898588"/>
            <a:ext cx="197346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courier lands and completes import formalities.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2607528" y="2678728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12265734" y="2336366"/>
            <a:ext cx="714188" cy="684844"/>
          </a:xfrm>
          <a:prstGeom prst="roundRect">
            <a:avLst>
              <a:gd name="adj" fmla="val 85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11636216" y="3699510"/>
            <a:ext cx="19734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Final Delivery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636216" y="4189928"/>
            <a:ext cx="197346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Shipment is delivered, and delivery confirmation is shared with the client.</a:t>
            </a:r>
            <a:endParaRPr lang="en-US" sz="175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7015B26-6EC7-4EEE-FA39-A3B5DAD935A5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4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25" name="Footer Placeholder 1">
            <a:extLst>
              <a:ext uri="{FF2B5EF4-FFF2-40B4-BE49-F238E27FC236}">
                <a16:creationId xmlns:a16="http://schemas.microsoft.com/office/drawing/2014/main" id="{5FE4B2AE-C9B7-95A2-78B1-9E34C4A4C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  <p:pic>
        <p:nvPicPr>
          <p:cNvPr id="31" name="Image 0">
            <a:extLst>
              <a:ext uri="{FF2B5EF4-FFF2-40B4-BE49-F238E27FC236}">
                <a16:creationId xmlns:a16="http://schemas.microsoft.com/office/drawing/2014/main" id="{A00E1D96-1C80-CC64-1751-9DEAE5018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312" y="2451736"/>
            <a:ext cx="433208" cy="433208"/>
          </a:xfrm>
          <a:prstGeom prst="rect">
            <a:avLst/>
          </a:prstGeom>
        </p:spPr>
      </p:pic>
      <p:pic>
        <p:nvPicPr>
          <p:cNvPr id="33" name="Image 1">
            <a:extLst>
              <a:ext uri="{FF2B5EF4-FFF2-40B4-BE49-F238E27FC236}">
                <a16:creationId xmlns:a16="http://schemas.microsoft.com/office/drawing/2014/main" id="{3A856383-650A-84D8-53BD-EA484D20E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946" y="2451736"/>
            <a:ext cx="433208" cy="433208"/>
          </a:xfrm>
          <a:prstGeom prst="rect">
            <a:avLst/>
          </a:prstGeom>
        </p:spPr>
      </p:pic>
      <p:pic>
        <p:nvPicPr>
          <p:cNvPr id="34" name="Image 2">
            <a:extLst>
              <a:ext uri="{FF2B5EF4-FFF2-40B4-BE49-F238E27FC236}">
                <a16:creationId xmlns:a16="http://schemas.microsoft.com/office/drawing/2014/main" id="{D5DBF698-2AF3-2560-5477-92CE29051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424" y="2482216"/>
            <a:ext cx="433208" cy="433208"/>
          </a:xfrm>
          <a:prstGeom prst="rect">
            <a:avLst/>
          </a:prstGeom>
        </p:spPr>
      </p:pic>
      <p:pic>
        <p:nvPicPr>
          <p:cNvPr id="35" name="Image 3">
            <a:extLst>
              <a:ext uri="{FF2B5EF4-FFF2-40B4-BE49-F238E27FC236}">
                <a16:creationId xmlns:a16="http://schemas.microsoft.com/office/drawing/2014/main" id="{CD8DDF40-A0CA-4C2F-11F7-9D04A0AE6A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2261" y="2489836"/>
            <a:ext cx="433208" cy="433208"/>
          </a:xfrm>
          <a:prstGeom prst="rect">
            <a:avLst/>
          </a:prstGeom>
        </p:spPr>
      </p:pic>
      <p:pic>
        <p:nvPicPr>
          <p:cNvPr id="36" name="Image 4">
            <a:extLst>
              <a:ext uri="{FF2B5EF4-FFF2-40B4-BE49-F238E27FC236}">
                <a16:creationId xmlns:a16="http://schemas.microsoft.com/office/drawing/2014/main" id="{E4CC060C-5EEF-CE06-98C2-A17B10C3A6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1730" y="2451736"/>
            <a:ext cx="433208" cy="433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18530"/>
            <a:ext cx="4600813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Details Required for a Quote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87241" y="1293257"/>
            <a:ext cx="4202073" cy="2611517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012150" y="1518166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Shipment Details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12150" y="2004536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Number of boxes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12150" y="2443043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Weight and dimensions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12150" y="2881551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Description of goods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12150" y="3320058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Readiness for pick-up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4223" y="1293257"/>
            <a:ext cx="4202073" cy="2611517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5439132" y="1518166"/>
            <a:ext cx="308657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Origin and Destination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39132" y="2004536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Exact pick-up and delivery locations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439132" y="2443043"/>
            <a:ext cx="3752255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Include specific address details, if applicable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1205" y="1293257"/>
            <a:ext cx="4202073" cy="2611517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9866114" y="1518166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Delivery Timeframe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66114" y="2004536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Required delivery date and time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87241" y="4242197"/>
            <a:ext cx="5747980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Details Required After Confirmation</a:t>
            </a:r>
            <a:endParaRPr lang="en-US" sz="2650" dirty="0"/>
          </a:p>
        </p:txBody>
      </p:sp>
      <p:sp>
        <p:nvSpPr>
          <p:cNvPr id="17" name="Shape 15"/>
          <p:cNvSpPr/>
          <p:nvPr/>
        </p:nvSpPr>
        <p:spPr>
          <a:xfrm>
            <a:off x="787241" y="5001339"/>
            <a:ext cx="4202073" cy="2611517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1012150" y="5226248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Shipper Info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12150" y="5712619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Company name and address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12150" y="6151126"/>
            <a:ext cx="3752255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Contact person’s name, phone number, and email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012150" y="7005638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5214223" y="5001339"/>
            <a:ext cx="4202073" cy="2611517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5439132" y="5226248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39132" y="5712619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Invoice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5439132" y="6151126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Packing list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439132" y="6589633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Reference number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5439132" y="7028140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Customs instructions, if applicable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9641205" y="5001339"/>
            <a:ext cx="4202073" cy="2611517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9866114" y="5226248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Consignee Info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866114" y="5712619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Company name and address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9866114" y="6151126"/>
            <a:ext cx="3752255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Contact person’s name, phone number, and email</a:t>
            </a:r>
            <a:endParaRPr lang="en-US" sz="175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FE2C5D1-48CF-E32F-04A7-A3405CB8B5E6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5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33" name="Footer Placeholder 1">
            <a:extLst>
              <a:ext uri="{FF2B5EF4-FFF2-40B4-BE49-F238E27FC236}">
                <a16:creationId xmlns:a16="http://schemas.microsoft.com/office/drawing/2014/main" id="{D8537AD2-52DA-D13C-A9E6-877915AE9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6997"/>
            <a:ext cx="127376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Customs: Documents and Supported Countries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5938"/>
            <a:ext cx="59777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Documents Required for Customs Clearance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480429"/>
            <a:ext cx="4196358" cy="2633543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1020604" y="27072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Core Documents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19766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Commercial Invoice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363986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Packing List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0604" y="408205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Certificate of Origin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0604" y="452425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HS Code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2480429"/>
            <a:ext cx="4196358" cy="2633543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5443776" y="2707243"/>
            <a:ext cx="30882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Additional Documents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3776" y="319766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Export or Import permits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43776" y="363986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Power of Attorney (POA) for customs clearance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2480429"/>
            <a:ext cx="4196358" cy="2633543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9866948" y="27072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Courier-Specific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866948" y="319766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Passport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866948" y="363986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Flight Tickets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54541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Supported Countries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 provide customs clearance services for a broad range of countries worldwide, including:
Mexico | United States | Europe | And many others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93790" y="71295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Note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Customs procedures vary by country and airport. Contact us for specific country requirements and tailored support.</a:t>
            </a:r>
            <a:endParaRPr lang="en-US" sz="175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99232F-A943-DFF6-141F-BD44287F6DE5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6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22" name="Footer Placeholder 1">
            <a:extLst>
              <a:ext uri="{FF2B5EF4-FFF2-40B4-BE49-F238E27FC236}">
                <a16:creationId xmlns:a16="http://schemas.microsoft.com/office/drawing/2014/main" id="{688B7781-332E-0DB9-8A87-1ADFAC501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0792"/>
            <a:ext cx="12224623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Next Flight Out (NFO), Charter, Express Road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18" y="1704380"/>
            <a:ext cx="564356" cy="5643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0317" y="1664970"/>
            <a:ext cx="2987397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Next Flight Out (NFO)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80317" y="2153007"/>
            <a:ext cx="12259866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 bulkier and heavier shipments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that cannot be hand-carried, NFO ensures your cargo is prioritized on the next available flight.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580317" y="2954179"/>
            <a:ext cx="12259866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Ideal for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large or oversized packages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leveraging commercial flight cargo holds for speed and efficiency.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18" y="4032052"/>
            <a:ext cx="564356" cy="5643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80317" y="399264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Air Charter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580317" y="4480679"/>
            <a:ext cx="12259866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Designed for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large-scale or specialized shipments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air charter provides an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exclusive aircraft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for complete control and flexibility.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580317" y="5281851"/>
            <a:ext cx="12259866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Perfect for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oversized cargo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high-value goods, or urgent situations where commercial flights are not suitable.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218" y="6359723"/>
            <a:ext cx="564356" cy="5643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80317" y="6320314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Express Road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580317" y="6808351"/>
            <a:ext cx="12259866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Offers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fast and reliable ground transportation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for heavy or bulky shipments within specific regions.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580317" y="7248406"/>
            <a:ext cx="12259866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Utilizes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dedicated vans and professional drivers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to ensure secure, time-critical deliveries.</a:t>
            </a:r>
            <a:endParaRPr lang="en-US" sz="17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478DC8C-0D4B-3374-7C6D-1B7A5028E5E2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7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A7DEB3FB-DB38-5746-FBB9-283CEA90A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F4535492-23F0-9850-0D57-F57564BC42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12" r="839" b="27310"/>
          <a:stretch/>
        </p:blipFill>
        <p:spPr>
          <a:xfrm>
            <a:off x="1" y="0"/>
            <a:ext cx="14630400" cy="8229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29303E0-7993-03A3-2D5A-52FC9BBC9898}"/>
              </a:ext>
            </a:extLst>
          </p:cNvPr>
          <p:cNvSpPr/>
          <p:nvPr/>
        </p:nvSpPr>
        <p:spPr>
          <a:xfrm>
            <a:off x="1" y="0"/>
            <a:ext cx="14630397" cy="8229600"/>
          </a:xfrm>
          <a:prstGeom prst="rect">
            <a:avLst/>
          </a:prstGeom>
          <a:solidFill>
            <a:srgbClr val="5195A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FBA9985-7B24-86B8-9434-66C1EBFBFFDD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8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877D3664-0993-E1B0-24E6-6C694E36B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628E2226-102B-29DD-FDCC-CD16864715B2}"/>
              </a:ext>
            </a:extLst>
          </p:cNvPr>
          <p:cNvSpPr/>
          <p:nvPr/>
        </p:nvSpPr>
        <p:spPr>
          <a:xfrm>
            <a:off x="1124664" y="22153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Industries We Serve</a:t>
            </a:r>
            <a:endParaRPr lang="en-US" sz="4450" dirty="0"/>
          </a:p>
        </p:txBody>
      </p:sp>
      <p:pic>
        <p:nvPicPr>
          <p:cNvPr id="33" name="Image 0">
            <a:extLst>
              <a:ext uri="{FF2B5EF4-FFF2-40B4-BE49-F238E27FC236}">
                <a16:creationId xmlns:a16="http://schemas.microsoft.com/office/drawing/2014/main" id="{E4CAE478-C036-2FE7-9322-3AD0BD59A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483" y="3264337"/>
            <a:ext cx="566976" cy="566976"/>
          </a:xfrm>
          <a:prstGeom prst="rect">
            <a:avLst/>
          </a:prstGeom>
        </p:spPr>
      </p:pic>
      <p:sp>
        <p:nvSpPr>
          <p:cNvPr id="34" name="Text 1">
            <a:extLst>
              <a:ext uri="{FF2B5EF4-FFF2-40B4-BE49-F238E27FC236}">
                <a16:creationId xmlns:a16="http://schemas.microsoft.com/office/drawing/2014/main" id="{524EDB4A-755B-1D74-7AF2-32FD3F3AD52B}"/>
              </a:ext>
            </a:extLst>
          </p:cNvPr>
          <p:cNvSpPr/>
          <p:nvPr/>
        </p:nvSpPr>
        <p:spPr>
          <a:xfrm>
            <a:off x="1786294" y="40581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Automotive</a:t>
            </a:r>
            <a:endParaRPr lang="en-US" sz="2200" dirty="0"/>
          </a:p>
        </p:txBody>
      </p:sp>
      <p:pic>
        <p:nvPicPr>
          <p:cNvPr id="35" name="Image 1">
            <a:extLst>
              <a:ext uri="{FF2B5EF4-FFF2-40B4-BE49-F238E27FC236}">
                <a16:creationId xmlns:a16="http://schemas.microsoft.com/office/drawing/2014/main" id="{B4218ACD-8155-875B-B76B-2E7537CE3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586" y="3264337"/>
            <a:ext cx="566976" cy="566976"/>
          </a:xfrm>
          <a:prstGeom prst="rect">
            <a:avLst/>
          </a:prstGeom>
        </p:spPr>
      </p:pic>
      <p:sp>
        <p:nvSpPr>
          <p:cNvPr id="36" name="Text 2">
            <a:extLst>
              <a:ext uri="{FF2B5EF4-FFF2-40B4-BE49-F238E27FC236}">
                <a16:creationId xmlns:a16="http://schemas.microsoft.com/office/drawing/2014/main" id="{E251F482-07D4-96E7-2144-80E9B7BB1646}"/>
              </a:ext>
            </a:extLst>
          </p:cNvPr>
          <p:cNvSpPr/>
          <p:nvPr/>
        </p:nvSpPr>
        <p:spPr>
          <a:xfrm>
            <a:off x="6228397" y="40581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Aerospace</a:t>
            </a:r>
            <a:endParaRPr lang="en-US" sz="2200" dirty="0"/>
          </a:p>
        </p:txBody>
      </p:sp>
      <p:pic>
        <p:nvPicPr>
          <p:cNvPr id="37" name="Image 2">
            <a:extLst>
              <a:ext uri="{FF2B5EF4-FFF2-40B4-BE49-F238E27FC236}">
                <a16:creationId xmlns:a16="http://schemas.microsoft.com/office/drawing/2014/main" id="{E579C5CF-B7E2-2A90-A94B-3211695007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04689" y="3264337"/>
            <a:ext cx="566976" cy="5669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3629D0A7-F76B-7263-A2D5-916BEB092122}"/>
              </a:ext>
            </a:extLst>
          </p:cNvPr>
          <p:cNvSpPr/>
          <p:nvPr/>
        </p:nvSpPr>
        <p:spPr>
          <a:xfrm>
            <a:off x="10670500" y="40581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Electronics</a:t>
            </a:r>
            <a:endParaRPr lang="en-US" sz="2200" dirty="0"/>
          </a:p>
        </p:txBody>
      </p:sp>
      <p:pic>
        <p:nvPicPr>
          <p:cNvPr id="39" name="Image 3">
            <a:extLst>
              <a:ext uri="{FF2B5EF4-FFF2-40B4-BE49-F238E27FC236}">
                <a16:creationId xmlns:a16="http://schemas.microsoft.com/office/drawing/2014/main" id="{80467034-8048-1A9A-7F78-5F9162101C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0483" y="4866084"/>
            <a:ext cx="566976" cy="566976"/>
          </a:xfrm>
          <a:prstGeom prst="rect">
            <a:avLst/>
          </a:prstGeom>
        </p:spPr>
      </p:pic>
      <p:sp>
        <p:nvSpPr>
          <p:cNvPr id="40" name="Text 4">
            <a:extLst>
              <a:ext uri="{FF2B5EF4-FFF2-40B4-BE49-F238E27FC236}">
                <a16:creationId xmlns:a16="http://schemas.microsoft.com/office/drawing/2014/main" id="{A7C8CBFE-A4A6-5485-706D-9456A1F430E1}"/>
              </a:ext>
            </a:extLst>
          </p:cNvPr>
          <p:cNvSpPr/>
          <p:nvPr/>
        </p:nvSpPr>
        <p:spPr>
          <a:xfrm>
            <a:off x="1786294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Healthcare</a:t>
            </a:r>
            <a:endParaRPr lang="en-US" sz="2200" dirty="0"/>
          </a:p>
        </p:txBody>
      </p:sp>
      <p:pic>
        <p:nvPicPr>
          <p:cNvPr id="41" name="Image 4">
            <a:extLst>
              <a:ext uri="{FF2B5EF4-FFF2-40B4-BE49-F238E27FC236}">
                <a16:creationId xmlns:a16="http://schemas.microsoft.com/office/drawing/2014/main" id="{E8EA455B-5FB9-494D-DEE4-C4498C89D0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2586" y="4866084"/>
            <a:ext cx="566976" cy="566976"/>
          </a:xfrm>
          <a:prstGeom prst="rect">
            <a:avLst/>
          </a:prstGeom>
        </p:spPr>
      </p:pic>
      <p:sp>
        <p:nvSpPr>
          <p:cNvPr id="42" name="Text 5">
            <a:extLst>
              <a:ext uri="{FF2B5EF4-FFF2-40B4-BE49-F238E27FC236}">
                <a16:creationId xmlns:a16="http://schemas.microsoft.com/office/drawing/2014/main" id="{95FC33D3-B15E-F6E7-445A-B41839178806}"/>
              </a:ext>
            </a:extLst>
          </p:cNvPr>
          <p:cNvSpPr/>
          <p:nvPr/>
        </p:nvSpPr>
        <p:spPr>
          <a:xfrm>
            <a:off x="6228397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Fashion</a:t>
            </a:r>
            <a:endParaRPr lang="en-US" sz="2200" dirty="0"/>
          </a:p>
        </p:txBody>
      </p:sp>
      <p:pic>
        <p:nvPicPr>
          <p:cNvPr id="43" name="Image 5">
            <a:extLst>
              <a:ext uri="{FF2B5EF4-FFF2-40B4-BE49-F238E27FC236}">
                <a16:creationId xmlns:a16="http://schemas.microsoft.com/office/drawing/2014/main" id="{170AD6FE-C0E3-2D7C-1B98-7886E595B2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04689" y="4866084"/>
            <a:ext cx="566976" cy="566976"/>
          </a:xfrm>
          <a:prstGeom prst="rect">
            <a:avLst/>
          </a:prstGeom>
        </p:spPr>
      </p:pic>
      <p:sp>
        <p:nvSpPr>
          <p:cNvPr id="44" name="Text 6">
            <a:extLst>
              <a:ext uri="{FF2B5EF4-FFF2-40B4-BE49-F238E27FC236}">
                <a16:creationId xmlns:a16="http://schemas.microsoft.com/office/drawing/2014/main" id="{FB7AEE75-6F4F-3E5B-003C-40D24532F0E1}"/>
              </a:ext>
            </a:extLst>
          </p:cNvPr>
          <p:cNvSpPr/>
          <p:nvPr/>
        </p:nvSpPr>
        <p:spPr>
          <a:xfrm>
            <a:off x="10670500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2232" y="663893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9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Contacts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885" y="1345763"/>
            <a:ext cx="5040511" cy="50405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40849" y="6607373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+49 221 745 90 700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777508" y="7197090"/>
            <a:ext cx="3075384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help@sse-logistics.de​​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702</Words>
  <Application>Microsoft Office PowerPoint</Application>
  <PresentationFormat>Custom</PresentationFormat>
  <Paragraphs>121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MuseoModerno Medium</vt:lpstr>
      <vt:lpstr>Calibri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Green</cp:lastModifiedBy>
  <cp:revision>10</cp:revision>
  <dcterms:created xsi:type="dcterms:W3CDTF">2025-02-02T20:57:39Z</dcterms:created>
  <dcterms:modified xsi:type="dcterms:W3CDTF">2026-08-20T12:54:26Z</dcterms:modified>
</cp:coreProperties>
</file>